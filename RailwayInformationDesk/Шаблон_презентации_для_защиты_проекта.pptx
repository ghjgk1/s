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71" r:id="rId10"/>
    <p:sldId id="272" r:id="rId11"/>
    <p:sldId id="265" r:id="rId12"/>
    <p:sldId id="273" r:id="rId13"/>
    <p:sldId id="270" r:id="rId14"/>
    <p:sldId id="269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400" d="100"/>
          <a:sy n="400" d="100"/>
        </p:scale>
        <p:origin x="-12972" y="-55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1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46CFD-4B99-4E95-9C28-BB18D1883FD7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51805-76F0-4253-81D6-38C5E5E791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2279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286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804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994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888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580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540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613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913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520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12393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11491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536744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56370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62319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83550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9978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40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4569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23655" y="1627630"/>
            <a:ext cx="5668127" cy="1801370"/>
          </a:xfrm>
        </p:spPr>
        <p:txBody>
          <a:bodyPr>
            <a:noAutofit/>
          </a:bodyPr>
          <a:lstStyle/>
          <a:p>
            <a:pPr algn="ctr"/>
            <a:r>
              <a:rPr lang="ru-RU" sz="3000" dirty="0"/>
              <a:t>Разработка информационно-поисковой системы для справочного бюро ж</a:t>
            </a:r>
            <a:r>
              <a:rPr lang="en-US" sz="3000" dirty="0"/>
              <a:t>/</a:t>
            </a:r>
            <a:r>
              <a:rPr lang="ru-RU" sz="3000" dirty="0"/>
              <a:t>д вокзала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78919" y="3914706"/>
            <a:ext cx="5357600" cy="1160213"/>
          </a:xfrm>
        </p:spPr>
        <p:txBody>
          <a:bodyPr>
            <a:normAutofit fontScale="55000" lnSpcReduction="20000"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ru-RU" dirty="0"/>
              <a:t>Проектная работа по дисциплине 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ru-RU" dirty="0"/>
              <a:t>«Технологии разработки и защиты  баз данных»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ru-RU" dirty="0"/>
              <a:t>Выполнил: студент Никитин С.А. группа ПР-41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ru-RU" dirty="0"/>
              <a:t>Руководитель: </a:t>
            </a:r>
            <a:r>
              <a:rPr lang="ru-RU" dirty="0" err="1"/>
              <a:t>Овчинникова</a:t>
            </a:r>
            <a:r>
              <a:rPr lang="ru-RU" dirty="0"/>
              <a:t> С.И.</a:t>
            </a:r>
          </a:p>
        </p:txBody>
      </p:sp>
    </p:spTree>
    <p:extLst>
      <p:ext uri="{BB962C8B-B14F-4D97-AF65-F5344CB8AC3E}">
        <p14:creationId xmlns:p14="http://schemas.microsoft.com/office/powerpoint/2010/main" val="3186352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Цель проекта</a:t>
            </a:r>
            <a:endParaRPr lang="ru-RU" i="1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Разработать информационную систему для автоматизации процессов управления расписанием, станциями, маршрутами для повышения эффективности работы железнодорожной инфраструктуры</a:t>
            </a:r>
          </a:p>
        </p:txBody>
      </p:sp>
    </p:spTree>
    <p:extLst>
      <p:ext uri="{BB962C8B-B14F-4D97-AF65-F5344CB8AC3E}">
        <p14:creationId xmlns:p14="http://schemas.microsoft.com/office/powerpoint/2010/main" val="3439910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Задачи проекта</a:t>
            </a: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2364920" y="1731458"/>
            <a:ext cx="7796540" cy="4266864"/>
          </a:xfrm>
        </p:spPr>
        <p:txBody>
          <a:bodyPr>
            <a:normAutofit/>
          </a:bodyPr>
          <a:lstStyle/>
          <a:p>
            <a:endParaRPr lang="ru-RU" sz="1400" dirty="0"/>
          </a:p>
          <a:p>
            <a:r>
              <a:rPr lang="ru-RU" sz="1600" dirty="0">
                <a:solidFill>
                  <a:srgbClr val="FFFF00"/>
                </a:solidFill>
              </a:rPr>
              <a:t>1 этап: Проектирование концептуальной модели данных</a:t>
            </a:r>
          </a:p>
          <a:p>
            <a:r>
              <a:rPr lang="ru-RU" sz="1600" dirty="0"/>
              <a:t>Выявление информационных потребностей пользователей (администратор, дежурный, пассажир);</a:t>
            </a:r>
          </a:p>
          <a:p>
            <a:r>
              <a:rPr lang="ru-RU" sz="1600" dirty="0"/>
              <a:t>Обследование предметной области, определение объектов и связей между ними;</a:t>
            </a:r>
          </a:p>
          <a:p>
            <a:r>
              <a:rPr lang="ru-RU" sz="1600" dirty="0"/>
              <a:t>Построение </a:t>
            </a:r>
            <a:r>
              <a:rPr lang="en-US" sz="1600" dirty="0"/>
              <a:t>ER</a:t>
            </a:r>
            <a:r>
              <a:rPr lang="ru-RU" sz="1600" dirty="0"/>
              <a:t>-диаграммы;</a:t>
            </a:r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847480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Задачи проекта</a:t>
            </a: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2364920" y="1731458"/>
            <a:ext cx="7796540" cy="4266864"/>
          </a:xfrm>
        </p:spPr>
        <p:txBody>
          <a:bodyPr>
            <a:normAutofit/>
          </a:bodyPr>
          <a:lstStyle/>
          <a:p>
            <a:endParaRPr lang="ru-RU" sz="1400" dirty="0"/>
          </a:p>
          <a:p>
            <a:r>
              <a:rPr lang="ru-RU" sz="1600" dirty="0">
                <a:solidFill>
                  <a:srgbClr val="FFFF00"/>
                </a:solidFill>
              </a:rPr>
              <a:t>2 этап: Проектирование логической модели данных </a:t>
            </a:r>
          </a:p>
          <a:p>
            <a:r>
              <a:rPr lang="ru-RU" sz="1600" dirty="0"/>
              <a:t>Построение логической модели данных в соответствии с концептуальной моделью ПО и выбранной реляционной моделью данных СУБД;</a:t>
            </a:r>
          </a:p>
          <a:p>
            <a:r>
              <a:rPr lang="ru-RU" sz="1600" dirty="0"/>
              <a:t>Проверка логической модели с помощью правил нормализации;</a:t>
            </a:r>
          </a:p>
          <a:p>
            <a:r>
              <a:rPr lang="ru-RU" sz="1600" dirty="0"/>
              <a:t>Выявление и описание ограничений целостности данных;</a:t>
            </a:r>
          </a:p>
          <a:p>
            <a:r>
              <a:rPr lang="ru-RU" sz="1600" dirty="0"/>
              <a:t>Уточнение </a:t>
            </a:r>
            <a:r>
              <a:rPr lang="en-US" sz="1600" dirty="0"/>
              <a:t>ER</a:t>
            </a:r>
            <a:r>
              <a:rPr lang="ru-RU" sz="1600" dirty="0"/>
              <a:t>-диаграммы;</a:t>
            </a:r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203456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Задачи проекта</a:t>
            </a: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2364920" y="1731458"/>
            <a:ext cx="7796540" cy="4266864"/>
          </a:xfrm>
        </p:spPr>
        <p:txBody>
          <a:bodyPr>
            <a:normAutofit/>
          </a:bodyPr>
          <a:lstStyle/>
          <a:p>
            <a:endParaRPr lang="ru-RU" sz="1400" dirty="0"/>
          </a:p>
          <a:p>
            <a:r>
              <a:rPr lang="ru-RU" sz="1600" dirty="0">
                <a:solidFill>
                  <a:srgbClr val="FFFF00"/>
                </a:solidFill>
              </a:rPr>
              <a:t>3 этап: Проектирование физической модели данных</a:t>
            </a:r>
          </a:p>
          <a:p>
            <a:r>
              <a:rPr lang="ru-RU" sz="1600" dirty="0"/>
              <a:t>Построение физической модели данных в соответствии с логической моделью и выбранной реляционной СУБД;</a:t>
            </a:r>
          </a:p>
          <a:p>
            <a:r>
              <a:rPr lang="ru-RU" sz="1600" dirty="0"/>
              <a:t>Определение первичных, альтернативных и внешних ключей;</a:t>
            </a:r>
          </a:p>
          <a:p>
            <a:r>
              <a:rPr lang="ru-RU" sz="1600" dirty="0"/>
              <a:t>Реализация ограничений целостности данных;</a:t>
            </a:r>
          </a:p>
          <a:p>
            <a:r>
              <a:rPr lang="ru-RU" sz="1600" dirty="0"/>
              <a:t>Построение диаграммы базы данных </a:t>
            </a:r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069381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Список сущностей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Станция (ключевое поле: </a:t>
            </a:r>
            <a:r>
              <a:rPr lang="ru-RU" dirty="0" err="1"/>
              <a:t>Id</a:t>
            </a:r>
            <a:r>
              <a:rPr lang="ru-RU" dirty="0"/>
              <a:t>)</a:t>
            </a:r>
          </a:p>
          <a:p>
            <a:r>
              <a:rPr lang="ru-RU" dirty="0"/>
              <a:t>Маршрут (ключевое поле: </a:t>
            </a:r>
            <a:r>
              <a:rPr lang="ru-RU" dirty="0" err="1"/>
              <a:t>Id</a:t>
            </a:r>
            <a:r>
              <a:rPr lang="ru-RU" dirty="0"/>
              <a:t>)</a:t>
            </a:r>
          </a:p>
          <a:p>
            <a:r>
              <a:rPr lang="ru-RU" dirty="0"/>
              <a:t>Тип поезда (ключевое поле: </a:t>
            </a:r>
            <a:r>
              <a:rPr lang="ru-RU" dirty="0" err="1"/>
              <a:t>Id</a:t>
            </a:r>
            <a:r>
              <a:rPr lang="ru-RU" dirty="0"/>
              <a:t>)</a:t>
            </a:r>
          </a:p>
          <a:p>
            <a:r>
              <a:rPr lang="ru-RU" dirty="0"/>
              <a:t>Шаблон расписания (ключевое поле: </a:t>
            </a:r>
            <a:r>
              <a:rPr lang="ru-RU" dirty="0" err="1"/>
              <a:t>Id</a:t>
            </a:r>
            <a:r>
              <a:rPr lang="ru-RU" dirty="0"/>
              <a:t>)</a:t>
            </a:r>
          </a:p>
          <a:p>
            <a:r>
              <a:rPr lang="ru-RU" dirty="0"/>
              <a:t>Остановка шаблона (ключевое поле: </a:t>
            </a:r>
            <a:r>
              <a:rPr lang="ru-RU" dirty="0" err="1"/>
              <a:t>Id</a:t>
            </a:r>
            <a:r>
              <a:rPr lang="ru-RU" dirty="0"/>
              <a:t>)</a:t>
            </a:r>
          </a:p>
          <a:p>
            <a:r>
              <a:rPr lang="ru-RU" dirty="0"/>
              <a:t>Экземпляр рейса (ключевое поле: </a:t>
            </a:r>
            <a:r>
              <a:rPr lang="ru-RU" dirty="0" err="1"/>
              <a:t>Id</a:t>
            </a:r>
            <a:r>
              <a:rPr lang="ru-RU" dirty="0"/>
              <a:t>)</a:t>
            </a:r>
          </a:p>
          <a:p>
            <a:r>
              <a:rPr lang="ru-RU" dirty="0"/>
              <a:t>Фактическое расписание (ключевое поле: </a:t>
            </a:r>
            <a:r>
              <a:rPr lang="ru-RU" dirty="0" err="1"/>
              <a:t>Id</a:t>
            </a:r>
            <a:r>
              <a:rPr lang="ru-RU" dirty="0"/>
              <a:t>)</a:t>
            </a:r>
          </a:p>
          <a:p>
            <a:r>
              <a:rPr lang="ru-RU" dirty="0"/>
              <a:t>Пользователь (ключевое поле: </a:t>
            </a:r>
            <a:r>
              <a:rPr lang="ru-RU" dirty="0" err="1"/>
              <a:t>Id</a:t>
            </a:r>
            <a:r>
              <a:rPr lang="ru-RU" dirty="0"/>
              <a:t>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5003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ER-</a:t>
            </a:r>
            <a:r>
              <a:rPr lang="ru-RU" dirty="0"/>
              <a:t>диаграмма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531" y="2095500"/>
            <a:ext cx="6095412" cy="3695700"/>
          </a:xfrm>
        </p:spPr>
      </p:pic>
    </p:spTree>
    <p:extLst>
      <p:ext uri="{BB962C8B-B14F-4D97-AF65-F5344CB8AC3E}">
        <p14:creationId xmlns:p14="http://schemas.microsoft.com/office/powerpoint/2010/main" val="3715931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24914" y="609600"/>
            <a:ext cx="4242642" cy="1326321"/>
          </a:xfrm>
        </p:spPr>
        <p:txBody>
          <a:bodyPr/>
          <a:lstStyle/>
          <a:p>
            <a:pPr algn="ctr"/>
            <a:r>
              <a:rPr lang="ru-RU" dirty="0"/>
              <a:t>Схема данных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9EDF1B7-A98C-F3CC-7A1A-FB8A9D951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DD4CB95-69FD-6D67-883D-1E8D75F27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788822"/>
            <a:ext cx="5762172" cy="545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803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Выбор СУБД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2605932" y="1773937"/>
            <a:ext cx="3896467" cy="1928658"/>
          </a:xfrm>
        </p:spPr>
        <p:txBody>
          <a:bodyPr>
            <a:normAutofit fontScale="85000" lnSpcReduction="20000"/>
          </a:bodyPr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Преимущества </a:t>
            </a:r>
            <a:r>
              <a:rPr lang="en-US" dirty="0" err="1"/>
              <a:t>Postgre</a:t>
            </a:r>
            <a:r>
              <a:rPr lang="en-US" dirty="0"/>
              <a:t> SQL</a:t>
            </a:r>
            <a:r>
              <a:rPr lang="ru-RU" dirty="0"/>
              <a:t>: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000" dirty="0"/>
              <a:t>Расширяемость и богатый набор типов данных;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000" dirty="0"/>
              <a:t>Масштабируемость;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000" dirty="0"/>
              <a:t>Кроссплатформенность;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000" dirty="0"/>
              <a:t>Безопасность.</a:t>
            </a:r>
          </a:p>
          <a:p>
            <a:pPr marL="171450" indent="-171450">
              <a:buFontTx/>
              <a:buChar char="-"/>
            </a:pPr>
            <a:endParaRPr lang="ru-RU" sz="1000" dirty="0"/>
          </a:p>
          <a:p>
            <a:endParaRPr lang="ru-RU" dirty="0"/>
          </a:p>
        </p:txBody>
      </p:sp>
      <p:pic>
        <p:nvPicPr>
          <p:cNvPr id="9" name="Объект 8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597951"/>
            <a:ext cx="5106988" cy="1506772"/>
          </a:xfrm>
        </p:spPr>
      </p:pic>
      <p:sp>
        <p:nvSpPr>
          <p:cNvPr id="7" name="Текст 6"/>
          <p:cNvSpPr>
            <a:spLocks noGrp="1"/>
          </p:cNvSpPr>
          <p:nvPr>
            <p:ph type="body" sz="quarter" idx="3"/>
          </p:nvPr>
        </p:nvSpPr>
        <p:spPr>
          <a:xfrm>
            <a:off x="6584517" y="1545337"/>
            <a:ext cx="3899798" cy="1795304"/>
          </a:xfrm>
        </p:spPr>
        <p:txBody>
          <a:bodyPr>
            <a:normAutofit fontScale="85000" lnSpcReduction="20000"/>
          </a:bodyPr>
          <a:lstStyle/>
          <a:p>
            <a:r>
              <a:rPr lang="ru-RU" sz="2000" dirty="0"/>
              <a:t>Преимущества</a:t>
            </a:r>
            <a:r>
              <a:rPr lang="en-US" sz="2000" dirty="0"/>
              <a:t> Microsoft SQL</a:t>
            </a:r>
            <a:r>
              <a:rPr lang="ru-RU" sz="2000" dirty="0"/>
              <a:t>: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000" dirty="0"/>
              <a:t>Высокая производительность и масштабируемость;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000" dirty="0"/>
              <a:t>Надежная система безопасности;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000" dirty="0"/>
              <a:t>Интуитивно-понятный интерфейс;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000" dirty="0"/>
              <a:t>Поддержка сложных моделей данных и аналитики.</a:t>
            </a:r>
          </a:p>
          <a:p>
            <a:endParaRPr lang="ru-RU" dirty="0"/>
          </a:p>
        </p:txBody>
      </p:sp>
      <p:pic>
        <p:nvPicPr>
          <p:cNvPr id="12" name="Объект 11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287" y="2994025"/>
            <a:ext cx="2933700" cy="2714625"/>
          </a:xfrm>
        </p:spPr>
      </p:pic>
    </p:spTree>
    <p:extLst>
      <p:ext uri="{BB962C8B-B14F-4D97-AF65-F5344CB8AC3E}">
        <p14:creationId xmlns:p14="http://schemas.microsoft.com/office/powerpoint/2010/main" val="724660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Выбор СУБД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2605932" y="1773937"/>
            <a:ext cx="3896467" cy="1928658"/>
          </a:xfrm>
        </p:spPr>
        <p:txBody>
          <a:bodyPr>
            <a:normAutofit fontScale="85000" lnSpcReduction="20000"/>
          </a:bodyPr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Недостатки </a:t>
            </a:r>
            <a:r>
              <a:rPr lang="en-US" dirty="0" err="1"/>
              <a:t>Postgre</a:t>
            </a:r>
            <a:r>
              <a:rPr lang="en-US" dirty="0"/>
              <a:t> SQL</a:t>
            </a:r>
            <a:r>
              <a:rPr lang="ru-RU" dirty="0"/>
              <a:t>: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000" dirty="0"/>
              <a:t>Сложность настройки;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000" dirty="0"/>
              <a:t>Высокое потребление ресурсов памяти ;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000" dirty="0"/>
              <a:t>Отсутствие некоторых функций;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000" dirty="0"/>
              <a:t>Невозможность выполнения межбазовых запросов.</a:t>
            </a:r>
          </a:p>
          <a:p>
            <a:pPr marL="171450" indent="-171450">
              <a:buFontTx/>
              <a:buChar char="-"/>
            </a:pPr>
            <a:endParaRPr lang="ru-RU" sz="1000" dirty="0"/>
          </a:p>
          <a:p>
            <a:endParaRPr lang="ru-RU" dirty="0"/>
          </a:p>
        </p:txBody>
      </p:sp>
      <p:pic>
        <p:nvPicPr>
          <p:cNvPr id="9" name="Объект 8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597951"/>
            <a:ext cx="5106988" cy="1506772"/>
          </a:xfrm>
        </p:spPr>
      </p:pic>
      <p:sp>
        <p:nvSpPr>
          <p:cNvPr id="7" name="Текст 6"/>
          <p:cNvSpPr>
            <a:spLocks noGrp="1"/>
          </p:cNvSpPr>
          <p:nvPr>
            <p:ph type="body" sz="quarter" idx="3"/>
          </p:nvPr>
        </p:nvSpPr>
        <p:spPr>
          <a:xfrm>
            <a:off x="6584517" y="1545337"/>
            <a:ext cx="3899798" cy="1795304"/>
          </a:xfrm>
        </p:spPr>
        <p:txBody>
          <a:bodyPr>
            <a:normAutofit fontScale="85000" lnSpcReduction="20000"/>
          </a:bodyPr>
          <a:lstStyle/>
          <a:p>
            <a:r>
              <a:rPr lang="ru-RU" sz="2000" dirty="0"/>
              <a:t>Недостатки</a:t>
            </a:r>
            <a:r>
              <a:rPr lang="en-US" sz="2000" dirty="0"/>
              <a:t> Microsoft SQL</a:t>
            </a:r>
            <a:r>
              <a:rPr lang="ru-RU" sz="2000" dirty="0"/>
              <a:t>: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000" dirty="0"/>
              <a:t>Высокая стоимость корпоративной лицензии;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000" dirty="0"/>
              <a:t>Повышенные требования к ресурсам сервера;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000" dirty="0"/>
              <a:t>Ограниченная совместимость;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000" dirty="0"/>
              <a:t>Сложные функции настройки производительности.</a:t>
            </a:r>
          </a:p>
          <a:p>
            <a:endParaRPr lang="ru-RU" dirty="0"/>
          </a:p>
        </p:txBody>
      </p:sp>
      <p:pic>
        <p:nvPicPr>
          <p:cNvPr id="12" name="Объект 11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287" y="2994025"/>
            <a:ext cx="2933700" cy="2714625"/>
          </a:xfrm>
        </p:spPr>
      </p:pic>
    </p:spTree>
    <p:extLst>
      <p:ext uri="{BB962C8B-B14F-4D97-AF65-F5344CB8AC3E}">
        <p14:creationId xmlns:p14="http://schemas.microsoft.com/office/powerpoint/2010/main" val="1434600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E395B2E0-9674-669C-B0F4-EC2CA4EC9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3000" dirty="0"/>
              <a:t>Определение ограничений целостности</a:t>
            </a: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05D0232F-20F4-38D2-D2BB-6C575C5B90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7852515"/>
              </p:ext>
            </p:extLst>
          </p:nvPr>
        </p:nvGraphicFramePr>
        <p:xfrm>
          <a:off x="914400" y="2095500"/>
          <a:ext cx="10353675" cy="3695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6837">
                  <a:extLst>
                    <a:ext uri="{9D8B030D-6E8A-4147-A177-3AD203B41FA5}">
                      <a16:colId xmlns:a16="http://schemas.microsoft.com/office/drawing/2014/main" val="3438558939"/>
                    </a:ext>
                  </a:extLst>
                </a:gridCol>
                <a:gridCol w="5176837">
                  <a:extLst>
                    <a:ext uri="{9D8B030D-6E8A-4147-A177-3AD203B41FA5}">
                      <a16:colId xmlns:a16="http://schemas.microsoft.com/office/drawing/2014/main" val="41508457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Тип ограничения</a:t>
                      </a:r>
                    </a:p>
                  </a:txBody>
                  <a:tcPr marL="121436" marR="202393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Пример в системе</a:t>
                      </a:r>
                      <a:endParaRPr lang="ru-RU" dirty="0"/>
                    </a:p>
                  </a:txBody>
                  <a:tcPr marL="121436" marR="121436"/>
                </a:tc>
                <a:extLst>
                  <a:ext uri="{0D108BD9-81ED-4DB2-BD59-A6C34878D82A}">
                    <a16:rowId xmlns:a16="http://schemas.microsoft.com/office/drawing/2014/main" val="2827559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Первичный ключ (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PK)</a:t>
                      </a:r>
                      <a:endParaRPr lang="ru-RU" dirty="0"/>
                    </a:p>
                  </a:txBody>
                  <a:tcPr marL="121436" marR="121436"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 каждой сущности</a:t>
                      </a:r>
                      <a:endParaRPr lang="ru-RU" dirty="0"/>
                    </a:p>
                  </a:txBody>
                  <a:tcPr marL="121436" marR="121436"/>
                </a:tc>
                <a:extLst>
                  <a:ext uri="{0D108BD9-81ED-4DB2-BD59-A6C34878D82A}">
                    <a16:rowId xmlns:a16="http://schemas.microsoft.com/office/drawing/2014/main" val="3563938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Внешний ключ (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FK)</a:t>
                      </a:r>
                      <a:endParaRPr lang="ru-RU" dirty="0"/>
                    </a:p>
                  </a:txBody>
                  <a:tcPr marL="121436" marR="121436"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RouteId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 </a:t>
                      </a: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ScheduleTemplate</a:t>
                      </a:r>
                      <a:endParaRPr lang="ru-RU" dirty="0"/>
                    </a:p>
                  </a:txBody>
                  <a:tcPr marL="121436" marR="121436"/>
                </a:tc>
                <a:extLst>
                  <a:ext uri="{0D108BD9-81ED-4DB2-BD59-A6C34878D82A}">
                    <a16:rowId xmlns:a16="http://schemas.microsoft.com/office/drawing/2014/main" val="72298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NULL</a:t>
                      </a:r>
                      <a:endParaRPr lang="ru-RU" dirty="0"/>
                    </a:p>
                  </a:txBody>
                  <a:tcPr marL="121436" marR="121436"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 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Station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 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endParaRPr lang="ru-RU" dirty="0"/>
                    </a:p>
                  </a:txBody>
                  <a:tcPr marL="121436" marR="121436"/>
                </a:tc>
                <a:extLst>
                  <a:ext uri="{0D108BD9-81ED-4DB2-BD59-A6C34878D82A}">
                    <a16:rowId xmlns:a16="http://schemas.microsoft.com/office/drawing/2014/main" val="2496507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</a:t>
                      </a:r>
                      <a:endParaRPr lang="ru-RU" dirty="0"/>
                    </a:p>
                  </a:txBody>
                  <a:tcPr marL="121436" marR="121436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b="0" dirty="0" err="1">
                          <a:effectLst/>
                          <a:latin typeface="Menlo"/>
                        </a:rPr>
                        <a:t>DaysOfWeek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 – только '0' и '1'</a:t>
                      </a:r>
                    </a:p>
                  </a:txBody>
                  <a:tcPr marL="202393" marR="121436" marT="95250" marB="95250" anchor="ctr"/>
                </a:tc>
                <a:extLst>
                  <a:ext uri="{0D108BD9-81ED-4DB2-BD59-A6C34878D82A}">
                    <a16:rowId xmlns:a16="http://schemas.microsoft.com/office/drawing/2014/main" val="1058092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UNIQUE</a:t>
                      </a:r>
                      <a:endParaRPr lang="ru-RU" dirty="0"/>
                    </a:p>
                  </a:txBody>
                  <a:tcPr marL="121436" marR="121436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Уникальность названия станции</a:t>
                      </a:r>
                    </a:p>
                  </a:txBody>
                  <a:tcPr marL="202393" marR="121436" marT="95250" marB="95250" anchor="ctr"/>
                </a:tc>
                <a:extLst>
                  <a:ext uri="{0D108BD9-81ED-4DB2-BD59-A6C34878D82A}">
                    <a16:rowId xmlns:a16="http://schemas.microsoft.com/office/drawing/2014/main" val="1565830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863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Защита базы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3744" y="2011680"/>
            <a:ext cx="769010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b="1" dirty="0">
                <a:solidFill>
                  <a:schemeClr val="accent1">
                    <a:lumMod val="50000"/>
                  </a:schemeClr>
                </a:solidFill>
              </a:rPr>
              <a:t>ТЕХНИЧЕСКИЕ МЕРЫ</a:t>
            </a:r>
          </a:p>
          <a:p>
            <a:pPr marL="285750" indent="-285750">
              <a:buFontTx/>
              <a:buChar char="-"/>
            </a:pPr>
            <a:r>
              <a:rPr lang="ru-RU" dirty="0"/>
              <a:t>Ролевая модель прав;</a:t>
            </a:r>
          </a:p>
          <a:p>
            <a:pPr marL="285750" indent="-285750">
              <a:buFontTx/>
              <a:buChar char="-"/>
            </a:pPr>
            <a:r>
              <a:rPr lang="ru-RU" dirty="0"/>
              <a:t>Изолированные сессий </a:t>
            </a:r>
            <a:r>
              <a:rPr lang="ru-RU" dirty="0" err="1"/>
              <a:t>пользвателя</a:t>
            </a:r>
            <a:r>
              <a:rPr lang="ru-RU" dirty="0"/>
              <a:t>.</a:t>
            </a:r>
          </a:p>
          <a:p>
            <a:pPr marL="285750" indent="-285750">
              <a:buFontTx/>
              <a:buChar char="-"/>
            </a:pPr>
            <a:endParaRPr lang="ru-RU" dirty="0"/>
          </a:p>
          <a:p>
            <a:pPr marL="285750" indent="-285750">
              <a:buFontTx/>
              <a:buChar char="-"/>
            </a:pPr>
            <a:r>
              <a:rPr lang="ru-RU" b="1" dirty="0">
                <a:solidFill>
                  <a:schemeClr val="accent1">
                    <a:lumMod val="50000"/>
                  </a:schemeClr>
                </a:solidFill>
              </a:rPr>
              <a:t>ОРГАНИЗАЦИОННЫЕ МЕРОПРИЯТИЯ</a:t>
            </a:r>
          </a:p>
          <a:p>
            <a:pPr marL="285750" indent="-285750">
              <a:buFontTx/>
              <a:buChar char="-"/>
            </a:pPr>
            <a:r>
              <a:rPr lang="ru-RU" dirty="0"/>
              <a:t>Обучение работе с системой;</a:t>
            </a:r>
          </a:p>
          <a:p>
            <a:pPr marL="285750" indent="-285750">
              <a:buFontTx/>
              <a:buChar char="-"/>
            </a:pPr>
            <a:r>
              <a:rPr lang="ru-RU" dirty="0"/>
              <a:t>Резервное копирование.</a:t>
            </a:r>
          </a:p>
          <a:p>
            <a:pPr marL="285750" indent="-285750">
              <a:buFontTx/>
              <a:buChar char="-"/>
            </a:pPr>
            <a:endParaRPr lang="ru-RU" dirty="0"/>
          </a:p>
          <a:p>
            <a:pPr marL="285750" indent="-285750">
              <a:buFontTx/>
              <a:buChar char="-"/>
            </a:pPr>
            <a:r>
              <a:rPr lang="ru-RU" b="1" dirty="0">
                <a:solidFill>
                  <a:schemeClr val="accent1">
                    <a:lumMod val="50000"/>
                  </a:schemeClr>
                </a:solidFill>
              </a:rPr>
              <a:t>МОНИТОРИНГ</a:t>
            </a:r>
          </a:p>
          <a:p>
            <a:pPr marL="285750" indent="-285750">
              <a:buFontTx/>
              <a:buChar char="-"/>
            </a:pPr>
            <a:r>
              <a:rPr lang="ru-RU" dirty="0"/>
              <a:t>Логирование активности;</a:t>
            </a:r>
          </a:p>
          <a:p>
            <a:pPr marL="285750" indent="-285750">
              <a:buFontTx/>
              <a:buChar char="-"/>
            </a:pPr>
            <a:r>
              <a:rPr lang="ru-RU" dirty="0"/>
              <a:t>Аудит изменений в расписании.</a:t>
            </a:r>
          </a:p>
          <a:p>
            <a:pPr marL="285750" indent="-285750">
              <a:buFontTx/>
              <a:buChar char="-"/>
            </a:pPr>
            <a:endParaRPr lang="ru-RU" dirty="0"/>
          </a:p>
          <a:p>
            <a:pPr marL="285750" indent="-285750">
              <a:buFontTx/>
              <a:buChar char="-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5540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Инструменты разработки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503618"/>
            <a:ext cx="5105400" cy="2871527"/>
          </a:xfrm>
        </p:spPr>
      </p:pic>
      <p:pic>
        <p:nvPicPr>
          <p:cNvPr id="8" name="Объект 7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844" y="2172494"/>
            <a:ext cx="3686175" cy="3533775"/>
          </a:xfrm>
        </p:spPr>
      </p:pic>
    </p:spTree>
    <p:extLst>
      <p:ext uri="{BB962C8B-B14F-4D97-AF65-F5344CB8AC3E}">
        <p14:creationId xmlns:p14="http://schemas.microsoft.com/office/powerpoint/2010/main" val="4087162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Инструменты разработки</a:t>
            </a:r>
          </a:p>
        </p:txBody>
      </p:sp>
      <p:pic>
        <p:nvPicPr>
          <p:cNvPr id="8" name="Объект 7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497931"/>
            <a:ext cx="5105400" cy="2882900"/>
          </a:xfrm>
        </p:spPr>
      </p:pic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788" y="2408598"/>
            <a:ext cx="5094287" cy="3061566"/>
          </a:xfrm>
        </p:spPr>
      </p:pic>
    </p:spTree>
    <p:extLst>
      <p:ext uri="{BB962C8B-B14F-4D97-AF65-F5344CB8AC3E}">
        <p14:creationId xmlns:p14="http://schemas.microsoft.com/office/powerpoint/2010/main" val="1754723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Алгоритм работы приложения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221" y="2095500"/>
            <a:ext cx="2944032" cy="3695700"/>
          </a:xfrm>
        </p:spPr>
      </p:pic>
    </p:spTree>
    <p:extLst>
      <p:ext uri="{BB962C8B-B14F-4D97-AF65-F5344CB8AC3E}">
        <p14:creationId xmlns:p14="http://schemas.microsoft.com/office/powerpoint/2010/main" val="12965749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TM04033921[[fn=Дамаск]]</Template>
  <TotalTime>940</TotalTime>
  <Words>420</Words>
  <Application>Microsoft Office PowerPoint</Application>
  <PresentationFormat>Широкоэкранный</PresentationFormat>
  <Paragraphs>97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Bookman Old Style</vt:lpstr>
      <vt:lpstr>Calibri</vt:lpstr>
      <vt:lpstr>Menlo</vt:lpstr>
      <vt:lpstr>quote-cjk-patch</vt:lpstr>
      <vt:lpstr>Rockwell</vt:lpstr>
      <vt:lpstr>Damask</vt:lpstr>
      <vt:lpstr>Разработка информационно-поисковой системы для справочного бюро ж/д вокзала</vt:lpstr>
      <vt:lpstr>Цель проекта</vt:lpstr>
      <vt:lpstr>Задачи проекта</vt:lpstr>
      <vt:lpstr>Задачи проекта</vt:lpstr>
      <vt:lpstr>Задачи проекта</vt:lpstr>
      <vt:lpstr>Список сущностей</vt:lpstr>
      <vt:lpstr>ER-диаграмма</vt:lpstr>
      <vt:lpstr>Схема данных</vt:lpstr>
      <vt:lpstr>Выбор СУБД</vt:lpstr>
      <vt:lpstr>Выбор СУБД</vt:lpstr>
      <vt:lpstr>Определение ограничений целостности</vt:lpstr>
      <vt:lpstr>Защита базы данных</vt:lpstr>
      <vt:lpstr>Инструменты разработки</vt:lpstr>
      <vt:lpstr>Инструменты разработки</vt:lpstr>
      <vt:lpstr>Алгоритм работы приложения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информационной системы для агрохолдинга «Зеленая долина»</dc:title>
  <dc:creator>322-P</dc:creator>
  <cp:lastModifiedBy>wuttenn@gmail.com</cp:lastModifiedBy>
  <cp:revision>38</cp:revision>
  <dcterms:created xsi:type="dcterms:W3CDTF">2025-12-08T06:43:29Z</dcterms:created>
  <dcterms:modified xsi:type="dcterms:W3CDTF">2026-02-06T06:07:39Z</dcterms:modified>
</cp:coreProperties>
</file>